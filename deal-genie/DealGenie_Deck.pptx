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457200"/>
            <a:ext cx="1371600" cy="5943600"/>
          </a:xfrm>
          <a:prstGeom prst="rect">
            <a:avLst/>
          </a:prstGeom>
          <a:solidFill>
            <a:srgbClr val="202020"/>
          </a:solidFill>
          <a:ln w="31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83280" y="457200"/>
            <a:ext cx="1371600" cy="5943600"/>
          </a:xfrm>
          <a:prstGeom prst="rect">
            <a:avLst/>
          </a:prstGeom>
          <a:solidFill>
            <a:srgbClr val="202020"/>
          </a:solidFill>
          <a:ln w="31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0" y="457200"/>
            <a:ext cx="1371600" cy="5943600"/>
          </a:xfrm>
          <a:prstGeom prst="rect">
            <a:avLst/>
          </a:prstGeom>
          <a:solidFill>
            <a:srgbClr val="202020"/>
          </a:solidFill>
          <a:ln w="31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7999" y="457200"/>
            <a:ext cx="1371600" cy="5943600"/>
          </a:xfrm>
          <a:prstGeom prst="rect">
            <a:avLst/>
          </a:prstGeom>
          <a:solidFill>
            <a:srgbClr val="202020"/>
          </a:solidFill>
          <a:ln w="31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0" y="457200"/>
            <a:ext cx="1371600" cy="5943600"/>
          </a:xfrm>
          <a:prstGeom prst="rect">
            <a:avLst/>
          </a:prstGeom>
          <a:solidFill>
            <a:srgbClr val="202020"/>
          </a:solidFill>
          <a:ln w="31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57200"/>
            <a:ext cx="1371600" cy="5943600"/>
          </a:xfrm>
          <a:prstGeom prst="rect">
            <a:avLst/>
          </a:prstGeom>
          <a:solidFill>
            <a:srgbClr val="202020"/>
          </a:solidFill>
          <a:ln w="31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6858000" cy="7315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1737360" cy="32918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4475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IBM Plex Sans"/>
              </a:rPr>
              <a:t>IBM 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82296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600" b="1" i="0">
                <a:solidFill>
                  <a:srgbClr val="FFFFFF"/>
                </a:solidFill>
                <a:latin typeface="IBM Plex Sans"/>
              </a:rPr>
              <a:t>Deal Genie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C6C6C6"/>
                </a:solidFill>
                <a:latin typeface="IBM Plex Sans"/>
              </a:rPr>
              <a:t>AI-powered quoting assistant for IBM Security sellers.
Discovery → Part Numbers → CPQ in under 2 minutes.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87878"/>
                </a:solidFill>
                <a:latin typeface="IBM Plex Sans"/>
              </a:rPr>
              <a:t>Powered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72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F62FE"/>
                </a:solidFill>
                <a:latin typeface="IBM Plex Sans"/>
              </a:rPr>
              <a:t>watsonx.ai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5720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87878"/>
                </a:solidFill>
                <a:latin typeface="IBM Plex Sans"/>
              </a:rPr>
              <a:t>  ·  IBM Cloudant  ·  IBM Marketplace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212080"/>
            <a:ext cx="210312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4D8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257800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4D8EF8"/>
                </a:solidFill>
                <a:latin typeface="IBM Plex Sans"/>
              </a:rPr>
              <a:t>IBM Security Verify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39" y="5212080"/>
            <a:ext cx="210312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4367" y="5257800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10B981"/>
                </a:solidFill>
                <a:latin typeface="IBM Plex Sans"/>
              </a:rPr>
              <a:t>NS1 Connect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59" y="5212080"/>
            <a:ext cx="210312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76087" y="5257800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A855F7"/>
                </a:solidFill>
                <a:latin typeface="IBM Plex Sans"/>
              </a:rPr>
              <a:t>IBM HashiCorp Vault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5212080"/>
            <a:ext cx="201168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5257800"/>
            <a:ext cx="19202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24A148"/>
                </a:solidFill>
                <a:latin typeface="IBM Plex Sans"/>
              </a:rPr>
              <a:t>50 tests · 0 failures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38544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A8A8A8"/>
                </a:solidFill>
                <a:latin typeface="IBM Plex Sans"/>
              </a:rPr>
              <a:t>IBM INTERNAL —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0312" y="6638544"/>
            <a:ext cx="365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 i="0">
                <a:solidFill>
                  <a:srgbClr val="525252"/>
                </a:solidFill>
                <a:latin typeface="IBM Plex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0" cy="66019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6019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19202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161616"/>
                </a:solidFill>
                <a:latin typeface="IBM Plex Sans"/>
              </a:rPr>
              <a:t>Quoting IBM products is harder than it should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08076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F6F6F"/>
                </a:solidFill>
                <a:latin typeface="IBM Plex Sans"/>
              </a:rPr>
              <a:t>Deal Genie solves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47944.0" y="0"/>
            <a:ext cx="0.0" cy="6601968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18448.0" y="0"/>
            <a:ext cx="0.0" cy="6601968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77440" y="3300984.0"/>
            <a:ext cx="9811512" cy="0.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77440" y="0"/>
            <a:ext cx="9811512" cy="3300984"/>
          </a:xfrm>
          <a:prstGeom prst="rect">
            <a:avLst/>
          </a:prstGeom>
          <a:solidFill>
            <a:srgbClr val="FF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3300984"/>
            <a:ext cx="9811512" cy="3300984"/>
          </a:xfrm>
          <a:prstGeom prst="rect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0"/>
            <a:ext cx="9811512" cy="237744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45720"/>
            <a:ext cx="9354312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IBM Plex Sans"/>
              </a:rPr>
              <a:t>THE PROBLEMS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300984"/>
            <a:ext cx="9811512" cy="23774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3346704"/>
            <a:ext cx="9354312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IBM Plex Sans"/>
              </a:rPr>
              <a:t>HOW DEAL GENIE SOLVES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402336"/>
            <a:ext cx="475488" cy="219456"/>
          </a:xfrm>
          <a:prstGeom prst="rect">
            <a:avLst/>
          </a:prstGeom>
          <a:solidFill>
            <a:srgbClr val="FFE5E5"/>
          </a:solidFill>
          <a:ln w="7620"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420624"/>
            <a:ext cx="43891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DA1E28"/>
                </a:solidFill>
                <a:latin typeface="IBM Plex Sans"/>
              </a:rPr>
              <a:t>Problem 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8608" y="731520"/>
            <a:ext cx="347472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8608" y="1170432"/>
            <a:ext cx="286816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No guided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1792224"/>
            <a:ext cx="2868168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525252"/>
                </a:solidFill>
                <a:latin typeface="IBM Plex Sans"/>
              </a:rPr>
              <a:t>Sellers didn't know what to ask clients.
Every new seller had to call a specialist just to start a quote — blocking deals and slowing ramp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49112" y="402336"/>
            <a:ext cx="475488" cy="219456"/>
          </a:xfrm>
          <a:prstGeom prst="rect">
            <a:avLst/>
          </a:prstGeom>
          <a:solidFill>
            <a:srgbClr val="FFE5E5"/>
          </a:solidFill>
          <a:ln w="7620"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8256" y="420624"/>
            <a:ext cx="43891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DA1E28"/>
                </a:solidFill>
                <a:latin typeface="IBM Plex Sans"/>
              </a:rPr>
              <a:t>Problem 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49112" y="731520"/>
            <a:ext cx="347472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49112" y="1170432"/>
            <a:ext cx="286816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Quotes lost — work repeated every 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9112" y="1792224"/>
            <a:ext cx="2868168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525252"/>
                </a:solidFill>
                <a:latin typeface="IBM Plex Sans"/>
              </a:rPr>
              <a:t>Nothing saved between sessions.
Work was recreated from scratch on every discovery call, burning time and creating inconsistency across the team.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19616" y="402336"/>
            <a:ext cx="475488" cy="219456"/>
          </a:xfrm>
          <a:prstGeom prst="rect">
            <a:avLst/>
          </a:prstGeom>
          <a:solidFill>
            <a:srgbClr val="FFE5E5"/>
          </a:solidFill>
          <a:ln w="7620"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8760" y="420624"/>
            <a:ext cx="43891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DA1E28"/>
                </a:solidFill>
                <a:latin typeface="IBM Plex Sans"/>
              </a:rPr>
              <a:t>Problem 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9616" y="731520"/>
            <a:ext cx="347472" cy="347472"/>
          </a:xfrm>
          <a:prstGeom prst="rect">
            <a:avLst/>
          </a:prstGeom>
          <a:solidFill>
            <a:srgbClr val="FFEBEB"/>
          </a:solidFill>
          <a:ln w="9525">
            <a:solidFill>
              <a:srgbClr val="DA1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9616" y="1170432"/>
            <a:ext cx="286816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CPQ rejections from wrong SKUs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9616" y="1792224"/>
            <a:ext cx="2868168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525252"/>
                </a:solidFill>
                <a:latin typeface="IBM Plex Sans"/>
              </a:rPr>
              <a:t>One missing required part or wrong tier rejected the whole order.
Approval round-trips added days to deal cycles and eroded seller confidence.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78608" y="3703320"/>
            <a:ext cx="475488" cy="219456"/>
          </a:xfrm>
          <a:prstGeom prst="rect">
            <a:avLst/>
          </a:prstGeom>
          <a:solidFill>
            <a:srgbClr val="D4E6FF"/>
          </a:solidFill>
          <a:ln w="762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87752" y="3721608"/>
            <a:ext cx="43891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0F62FE"/>
                </a:solidFill>
                <a:latin typeface="IBM Plex Sans"/>
              </a:rPr>
              <a:t>Solution 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78608" y="4032504"/>
            <a:ext cx="347472" cy="347472"/>
          </a:xfrm>
          <a:prstGeom prst="rect">
            <a:avLst/>
          </a:prstGeom>
          <a:solidFill>
            <a:srgbClr val="EBF3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8608" y="4471416"/>
            <a:ext cx="286816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Guided discovery built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78608" y="5093208"/>
            <a:ext cx="2868168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525252"/>
                </a:solidFill>
                <a:latin typeface="IBM Plex Sans"/>
              </a:rPr>
              <a:t>Smart, context-aware questions walk any seller through every product requirement. The right SKUs are produced automatically — no specialist, no guesswork, no delay.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49112" y="3703320"/>
            <a:ext cx="475488" cy="219456"/>
          </a:xfrm>
          <a:prstGeom prst="rect">
            <a:avLst/>
          </a:prstGeom>
          <a:solidFill>
            <a:srgbClr val="D4E6FF"/>
          </a:solidFill>
          <a:ln w="762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8256" y="3721608"/>
            <a:ext cx="43891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0F62FE"/>
                </a:solidFill>
                <a:latin typeface="IBM Plex Sans"/>
              </a:rPr>
              <a:t>Solution 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9112" y="4032504"/>
            <a:ext cx="347472" cy="347472"/>
          </a:xfrm>
          <a:prstGeom prst="rect">
            <a:avLst/>
          </a:prstGeom>
          <a:solidFill>
            <a:srgbClr val="EBF3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49112" y="4471416"/>
            <a:ext cx="286816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Full history saved to IBM Cloudant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9112" y="5093208"/>
            <a:ext cx="2868168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525252"/>
                </a:solidFill>
                <a:latin typeface="IBM Plex Sans"/>
              </a:rPr>
              <a:t>Every quote persisted with full conversation context. Reload any past deal in one click — return to follow-up calls fully prepared.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19616" y="3703320"/>
            <a:ext cx="475488" cy="219456"/>
          </a:xfrm>
          <a:prstGeom prst="rect">
            <a:avLst/>
          </a:prstGeom>
          <a:solidFill>
            <a:srgbClr val="D4E6FF"/>
          </a:solidFill>
          <a:ln w="762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8760" y="3721608"/>
            <a:ext cx="43891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0F62FE"/>
                </a:solidFill>
                <a:latin typeface="IBM Plex Sans"/>
              </a:rPr>
              <a:t>Solution 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19616" y="4032504"/>
            <a:ext cx="347472" cy="347472"/>
          </a:xfrm>
          <a:prstGeom prst="rect">
            <a:avLst/>
          </a:prstGeom>
          <a:solidFill>
            <a:srgbClr val="EBF3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19616" y="4471416"/>
            <a:ext cx="2868168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61616"/>
                </a:solidFill>
                <a:latin typeface="IBM Plex Sans"/>
              </a:rPr>
              <a:t>Exact SKUs, confirmed from IBM APIs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9616" y="5093208"/>
            <a:ext cx="2868168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525252"/>
                </a:solidFill>
                <a:latin typeface="IBM Plex Sans"/>
              </a:rPr>
              <a:t>Prices from IBM Marketplace API. Required parts auto-inserted. CPQ-ready CSV export — paste straight in, zero transcription errors, zero rejections.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8100" y="3136392"/>
            <a:ext cx="329184" cy="329184"/>
          </a:xfrm>
          <a:prstGeom prst="rect">
            <a:avLst/>
          </a:prstGeom>
          <a:solidFill>
            <a:srgbClr val="0F62F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8100" y="3118104"/>
            <a:ext cx="329184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IBM Plex Sans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18604" y="3136392"/>
            <a:ext cx="329184" cy="329184"/>
          </a:xfrm>
          <a:prstGeom prst="rect">
            <a:avLst/>
          </a:prstGeom>
          <a:solidFill>
            <a:srgbClr val="0F62F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18604" y="3118104"/>
            <a:ext cx="329184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IBM Plex Sans"/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89108" y="3136392"/>
            <a:ext cx="329184" cy="329184"/>
          </a:xfrm>
          <a:prstGeom prst="rect">
            <a:avLst/>
          </a:prstGeom>
          <a:solidFill>
            <a:srgbClr val="0F62F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89108" y="3118104"/>
            <a:ext cx="329184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IBM Plex Sans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638544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A8A8A8"/>
                </a:solidFill>
                <a:latin typeface="IBM Plex Sans"/>
              </a:rPr>
              <a:t>IBM INTERNAL —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40312" y="6638544"/>
            <a:ext cx="365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 i="0">
                <a:solidFill>
                  <a:srgbClr val="525252"/>
                </a:solidFill>
                <a:latin typeface="IBM Plex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IBM Plex Sans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56032"/>
            <a:ext cx="6217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0" i="0">
                <a:solidFill>
                  <a:srgbClr val="A8C8FF"/>
                </a:solidFill>
                <a:latin typeface="IBM Plex Sans"/>
              </a:rPr>
              <a:t>Requirements → Part Numbers → CPQ in under 2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3773424" cy="2770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14400"/>
            <a:ext cx="54864" cy="2770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042416"/>
            <a:ext cx="457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" y="1389888"/>
            <a:ext cx="35722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61616"/>
                </a:solidFill>
                <a:latin typeface="IBM Plex Sans"/>
              </a:rPr>
              <a:t>Log 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4.0" y="1773936.0"/>
            <a:ext cx="3535680.0" cy="0.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4904" y="1828800"/>
            <a:ext cx="3572256" cy="1764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Navigate to localhost:3000
Password: garland
Password-gated — IBM sellers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9184" y="914400"/>
            <a:ext cx="3773424" cy="2770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39184" y="914400"/>
            <a:ext cx="54864" cy="2770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5488" y="1042416"/>
            <a:ext cx="457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5488" y="1389888"/>
            <a:ext cx="35722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61616"/>
                </a:solidFill>
                <a:latin typeface="IBM Plex Sans"/>
              </a:rPr>
              <a:t>Select IBM Security Verify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85488.0" y="1773936.0"/>
            <a:ext cx="3535680.0" cy="0.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85488" y="1828800"/>
            <a:ext cx="3572256" cy="1764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Choose Start Quoting
6 questions → MAU calculated automatically
Part numbers + list price in 90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9768" y="914400"/>
            <a:ext cx="3773424" cy="2770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9768" y="914400"/>
            <a:ext cx="54864" cy="2770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6072" y="1042416"/>
            <a:ext cx="457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6072" y="1389888"/>
            <a:ext cx="35722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61616"/>
                </a:solidFill>
                <a:latin typeface="IBM Plex Sans"/>
              </a:rPr>
              <a:t>Export CSV + Save Quote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6072.0" y="1773936.0"/>
            <a:ext cx="3535680.0" cy="0.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96072" y="1828800"/>
            <a:ext cx="3572256" cy="1764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Download CPQ-ready file — paste directly in
Save to IBM Cloudant
Full context persisted for follow-up calls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94760"/>
            <a:ext cx="3773424" cy="2770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794760"/>
            <a:ext cx="54864" cy="2770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3922776"/>
            <a:ext cx="457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" y="4270248"/>
            <a:ext cx="35722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61616"/>
                </a:solidFill>
                <a:latin typeface="IBM Plex Sans"/>
              </a:rPr>
              <a:t>NS1 Connect — Premium Quote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4904.0" y="4654296.0"/>
            <a:ext cx="3535680.0" cy="0.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4904" y="4709160"/>
            <a:ext cx="3572256" cy="1764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2,000 MQ scenario → routes to Premium tier
Tier-aware questions only (GSLB, DDoS appear at 1B+ MQ)
Auto-inserts required SLA part D0GNDZX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39184" y="3794760"/>
            <a:ext cx="3773424" cy="2770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39184" y="3794760"/>
            <a:ext cx="54864" cy="2770632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5488" y="3922776"/>
            <a:ext cx="457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1C21B"/>
                </a:solidFill>
                <a:latin typeface="IBM Plex San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5488" y="4270248"/>
            <a:ext cx="35722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61616"/>
                </a:solidFill>
                <a:latin typeface="IBM Plex Sans"/>
              </a:rPr>
              <a:t>Compare Scenarios  ← KEY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85488.0" y="4654296.0"/>
            <a:ext cx="3535680.0" cy="0.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285488" y="4709160"/>
            <a:ext cx="3572256" cy="1764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Toggle GSLB / DDoS on/off live
Running total updates instantly
Deterministic — zero AI — safe to use on a client 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9768" y="3794760"/>
            <a:ext cx="3773424" cy="2770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9768" y="3794760"/>
            <a:ext cx="54864" cy="27706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96072" y="3922776"/>
            <a:ext cx="457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F62FE"/>
                </a:solidFill>
                <a:latin typeface="IBM Plex San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6072" y="4270248"/>
            <a:ext cx="35722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61616"/>
                </a:solidFill>
                <a:latin typeface="IBM Plex Sans"/>
              </a:rPr>
              <a:t>Best Practices AI + Client Mode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96072.0" y="4654296.0"/>
            <a:ext cx="3535680.0" cy="0.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196072" y="4709160"/>
            <a:ext cx="3572256" cy="17647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watsonx.ai SME answers product questions
Live IBM Docs context injected
Client Mode: AI speaks directly to the client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6355080"/>
            <a:ext cx="11731752" cy="237744"/>
          </a:xfrm>
          <a:prstGeom prst="rect">
            <a:avLst/>
          </a:prstGeom>
          <a:solidFill>
            <a:srgbClr val="EBF3FF"/>
          </a:solidFill>
          <a:ln w="762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382512"/>
            <a:ext cx="1154887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0F62FE"/>
                </a:solidFill>
                <a:latin typeface="IBM Plex Sans"/>
              </a:rPr>
              <a:t>All prices are LIST — confirmed from IBM Marketplace API.  Deterministic engine · 50 automated tests · Zero AI in pricing calculations.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38544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A8A8A8"/>
                </a:solidFill>
                <a:latin typeface="IBM Plex Sans"/>
              </a:rPr>
              <a:t>IBM INTERNAL —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40312" y="6638544"/>
            <a:ext cx="365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 i="0">
                <a:solidFill>
                  <a:srgbClr val="525252"/>
                </a:solidFill>
                <a:latin typeface="IBM Plex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IBM Plex Sans"/>
              </a:rPr>
              <a:t>Feedback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5486400" cy="310896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212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What we're asking for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486400" cy="1234440"/>
          </a:xfrm>
          <a:prstGeom prst="rect">
            <a:avLst/>
          </a:prstGeom>
          <a:solidFill>
            <a:srgbClr val="F4F8FF"/>
          </a:solidFill>
          <a:ln w="762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54864" cy="1234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508760"/>
            <a:ext cx="5257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Green light to deploy to the field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1828800"/>
            <a:ext cx="52578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The tool is production-ready today. Let real sellers use it on real deals so we can gather feedback before scoping the next phase.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43200"/>
            <a:ext cx="5486400" cy="1234440"/>
          </a:xfrm>
          <a:prstGeom prst="rect">
            <a:avLst/>
          </a:prstGeom>
          <a:solidFill>
            <a:srgbClr val="F4F8FF"/>
          </a:solidFill>
          <a:ln w="762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43200"/>
            <a:ext cx="54864" cy="1234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2834640"/>
            <a:ext cx="5257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Input on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3154680"/>
            <a:ext cx="52578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Containerised with Docker — ready for IBM Cloud Code Engine, IKS, or any internal IBM server in under an hour. Where should this live?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69080"/>
            <a:ext cx="5486400" cy="1234440"/>
          </a:xfrm>
          <a:prstGeom prst="rect">
            <a:avLst/>
          </a:prstGeom>
          <a:solidFill>
            <a:srgbClr val="F4F8FF"/>
          </a:solidFill>
          <a:ln w="762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69080"/>
            <a:ext cx="54864" cy="123444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4160520"/>
            <a:ext cx="5257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A short pilot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" y="4480560"/>
            <a:ext cx="52578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25252"/>
                </a:solidFill>
                <a:latin typeface="IBM Plex Sans"/>
              </a:rPr>
              <a:t>3–5 sellers across NS1 and Verify. Two weeks of real deal usage will give us more signal than months of internal testing.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005840"/>
            <a:ext cx="5486400" cy="310896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051560"/>
            <a:ext cx="52120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Roadmap — what's ready to build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417320"/>
            <a:ext cx="5486400" cy="841248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417320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1490472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PDF Quote Export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64240" y="1508760"/>
            <a:ext cx="640080" cy="201168"/>
          </a:xfrm>
          <a:prstGeom prst="rect">
            <a:avLst/>
          </a:prstGeom>
          <a:solidFill>
            <a:srgbClr val="24A148"/>
          </a:solidFill>
          <a:ln w="9525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82528" y="1517904"/>
            <a:ext cx="6217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IBM Plex Sans"/>
              </a:rPr>
              <a:t>~½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1801368"/>
            <a:ext cx="52578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525252"/>
                </a:solidFill>
                <a:latin typeface="IBM Plex Sans"/>
              </a:rPr>
              <a:t>Client-facing quote document — Download PDF button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350008"/>
            <a:ext cx="5486400" cy="841248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350008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2423160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Multi-product sessions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064240" y="2441448"/>
            <a:ext cx="640080" cy="201168"/>
          </a:xfrm>
          <a:prstGeom prst="rect">
            <a:avLst/>
          </a:prstGeom>
          <a:solidFill>
            <a:srgbClr val="24A148"/>
          </a:solidFill>
          <a:ln w="9525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82528" y="2450592"/>
            <a:ext cx="6217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IBM Plex Sans"/>
              </a:rPr>
              <a:t>~1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2734056"/>
            <a:ext cx="52578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525252"/>
                </a:solidFill>
                <a:latin typeface="IBM Plex Sans"/>
              </a:rPr>
              <a:t>Quote Verify + NS1 + Vault in a single conversation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282696"/>
            <a:ext cx="5486400" cy="841248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3282696"/>
            <a:ext cx="54864" cy="841248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335584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Discount guardrails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64240" y="3374136"/>
            <a:ext cx="640080" cy="201168"/>
          </a:xfrm>
          <a:prstGeom prst="rect">
            <a:avLst/>
          </a:prstGeom>
          <a:solidFill>
            <a:srgbClr val="24A148"/>
          </a:solidFill>
          <a:ln w="9525">
            <a:solidFill>
              <a:srgbClr val="24A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82528" y="3383280"/>
            <a:ext cx="6217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IBM Plex Sans"/>
              </a:rPr>
              <a:t>~½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3666744"/>
            <a:ext cx="52578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525252"/>
                </a:solidFill>
                <a:latin typeface="IBM Plex Sans"/>
              </a:rPr>
              <a:t>Warn seller when proposed discount exceeds IBM policy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215384"/>
            <a:ext cx="5486400" cy="841248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215384"/>
            <a:ext cx="54864" cy="841248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4288536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Salesforce CRM pre-fill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064240" y="4306824"/>
            <a:ext cx="640080" cy="201168"/>
          </a:xfrm>
          <a:prstGeom prst="rect">
            <a:avLst/>
          </a:prstGeom>
          <a:solidFill>
            <a:srgbClr val="F1C21B"/>
          </a:solidFill>
          <a:ln w="9525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82528" y="4315968"/>
            <a:ext cx="6217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IBM Plex Sans"/>
              </a:rPr>
              <a:t>~1 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5664" y="4599432"/>
            <a:ext cx="52578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525252"/>
                </a:solidFill>
                <a:latin typeface="IBM Plex Sans"/>
              </a:rPr>
              <a:t>Pull opportunity data to pre-populate discovery · needs SF credentials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148072"/>
            <a:ext cx="5486400" cy="841248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5148072"/>
            <a:ext cx="54864" cy="841248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5221224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61616"/>
                </a:solidFill>
                <a:latin typeface="IBM Plex Sans"/>
              </a:rPr>
              <a:t>CPQ direct push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064240" y="5239512"/>
            <a:ext cx="640080" cy="201168"/>
          </a:xfrm>
          <a:prstGeom prst="rect">
            <a:avLst/>
          </a:prstGeom>
          <a:solidFill>
            <a:srgbClr val="F1C21B"/>
          </a:solidFill>
          <a:ln w="9525">
            <a:solidFill>
              <a:srgbClr val="F1C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82528" y="5248656"/>
            <a:ext cx="621792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IBM Plex Sans"/>
              </a:rPr>
              <a:t>TBD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55664" y="5532120"/>
            <a:ext cx="52578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525252"/>
                </a:solidFill>
                <a:latin typeface="IBM Plex Sans"/>
              </a:rPr>
              <a:t>Send finished quote into IBM CPQ · needs CPQ API access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6327648"/>
            <a:ext cx="11365992" cy="256032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364224"/>
            <a:ext cx="11091672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C6C6C6"/>
                </a:solidFill>
                <a:latin typeface="IBM Plex Sans"/>
              </a:rPr>
              <a:t>"Right now, every NS1 and Verify quote requires an SME meeting and days of delay. DealGenie removes that friction entirely."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638544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A8A8A8"/>
                </a:solidFill>
                <a:latin typeface="IBM Plex Sans"/>
              </a:rPr>
              <a:t>IBM INTERNAL —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40312" y="6638544"/>
            <a:ext cx="365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 i="0">
                <a:solidFill>
                  <a:srgbClr val="525252"/>
                </a:solidFill>
                <a:latin typeface="IBM Plex San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